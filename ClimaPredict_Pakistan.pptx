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72" r:id="rId6"/>
    <p:sldId id="271" r:id="rId7"/>
    <p:sldId id="270" r:id="rId8"/>
    <p:sldId id="267" r:id="rId9"/>
    <p:sldId id="260" r:id="rId10"/>
    <p:sldId id="268" r:id="rId11"/>
    <p:sldId id="274" r:id="rId12"/>
    <p:sldId id="275" r:id="rId13"/>
    <p:sldId id="262" r:id="rId14"/>
    <p:sldId id="266" r:id="rId15"/>
    <p:sldId id="264" r:id="rId16"/>
    <p:sldId id="269" r:id="rId17"/>
    <p:sldId id="26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4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9" autoAdjust="0"/>
    <p:restoredTop sz="95274" autoAdjust="0"/>
  </p:normalViewPr>
  <p:slideViewPr>
    <p:cSldViewPr snapToGrid="0" snapToObjects="1">
      <p:cViewPr varScale="1">
        <p:scale>
          <a:sx n="115" d="100"/>
          <a:sy n="115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B3006C-2175-4FC6-9826-7402F6C8AE6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DFAD7B-10E9-45DE-9566-DE2FCA755042}">
      <dgm:prSet custT="1"/>
      <dgm:spPr/>
      <dgm:t>
        <a:bodyPr/>
        <a:lstStyle/>
        <a:p>
          <a:pPr rtl="0"/>
          <a:r>
            <a:rPr lang="en-US" sz="1050" smtClean="0"/>
            <a:t>Data Loading</a:t>
          </a:r>
          <a:endParaRPr lang="en-US" sz="1050"/>
        </a:p>
      </dgm:t>
    </dgm:pt>
    <dgm:pt modelId="{7AAC5FE0-9DD9-4077-8573-6F0AB9BE00B1}" type="parTrans" cxnId="{5FEE330D-69BA-47D9-81D0-1905709C2832}">
      <dgm:prSet/>
      <dgm:spPr/>
      <dgm:t>
        <a:bodyPr/>
        <a:lstStyle/>
        <a:p>
          <a:endParaRPr lang="en-US" sz="2000"/>
        </a:p>
      </dgm:t>
    </dgm:pt>
    <dgm:pt modelId="{FFB5BF45-28F1-4943-93CD-FAC6CCBEBBB5}" type="sibTrans" cxnId="{5FEE330D-69BA-47D9-81D0-1905709C2832}">
      <dgm:prSet/>
      <dgm:spPr/>
      <dgm:t>
        <a:bodyPr/>
        <a:lstStyle/>
        <a:p>
          <a:endParaRPr lang="en-US" sz="2000"/>
        </a:p>
      </dgm:t>
    </dgm:pt>
    <dgm:pt modelId="{8A47653F-B5C0-4AC5-9F1F-AEF2125078CB}">
      <dgm:prSet custT="1"/>
      <dgm:spPr/>
      <dgm:t>
        <a:bodyPr/>
        <a:lstStyle/>
        <a:p>
          <a:pPr rtl="0"/>
          <a:r>
            <a:rPr lang="en-US" sz="1050" smtClean="0"/>
            <a:t>EDA</a:t>
          </a:r>
          <a:endParaRPr lang="en-US" sz="1050"/>
        </a:p>
      </dgm:t>
    </dgm:pt>
    <dgm:pt modelId="{0ED42ADF-87DF-43B1-8A71-8E4F98FC8645}" type="parTrans" cxnId="{538B3875-9DCF-4F8B-93CB-7EBCDA1D3A18}">
      <dgm:prSet/>
      <dgm:spPr/>
      <dgm:t>
        <a:bodyPr/>
        <a:lstStyle/>
        <a:p>
          <a:endParaRPr lang="en-US" sz="2000"/>
        </a:p>
      </dgm:t>
    </dgm:pt>
    <dgm:pt modelId="{3C909DD9-BAF9-4899-ADE6-6B4FD4B32830}" type="sibTrans" cxnId="{538B3875-9DCF-4F8B-93CB-7EBCDA1D3A18}">
      <dgm:prSet/>
      <dgm:spPr/>
      <dgm:t>
        <a:bodyPr/>
        <a:lstStyle/>
        <a:p>
          <a:endParaRPr lang="en-US" sz="2000"/>
        </a:p>
      </dgm:t>
    </dgm:pt>
    <dgm:pt modelId="{2B6D0CAB-9394-43A1-9D0A-A120558EEE08}">
      <dgm:prSet custT="1"/>
      <dgm:spPr/>
      <dgm:t>
        <a:bodyPr/>
        <a:lstStyle/>
        <a:p>
          <a:pPr rtl="0"/>
          <a:r>
            <a:rPr lang="en-US" sz="1050" smtClean="0"/>
            <a:t>Feature Engineering</a:t>
          </a:r>
          <a:endParaRPr lang="en-US" sz="1050"/>
        </a:p>
      </dgm:t>
    </dgm:pt>
    <dgm:pt modelId="{28555C43-0EF7-4E47-9ED2-6EDF6CB67847}" type="parTrans" cxnId="{CA35857A-0102-44BB-BD32-D1FC7E00F0E1}">
      <dgm:prSet/>
      <dgm:spPr/>
      <dgm:t>
        <a:bodyPr/>
        <a:lstStyle/>
        <a:p>
          <a:endParaRPr lang="en-US" sz="2000"/>
        </a:p>
      </dgm:t>
    </dgm:pt>
    <dgm:pt modelId="{62E84890-C582-4C0E-B3B5-24F401689136}" type="sibTrans" cxnId="{CA35857A-0102-44BB-BD32-D1FC7E00F0E1}">
      <dgm:prSet/>
      <dgm:spPr/>
      <dgm:t>
        <a:bodyPr/>
        <a:lstStyle/>
        <a:p>
          <a:endParaRPr lang="en-US" sz="2000"/>
        </a:p>
      </dgm:t>
    </dgm:pt>
    <dgm:pt modelId="{E237603E-75E3-4530-A018-3B92FC509099}">
      <dgm:prSet custT="1"/>
      <dgm:spPr/>
      <dgm:t>
        <a:bodyPr/>
        <a:lstStyle/>
        <a:p>
          <a:pPr rtl="0"/>
          <a:r>
            <a:rPr lang="en-US" sz="1050" smtClean="0"/>
            <a:t>Train/Test Split</a:t>
          </a:r>
          <a:endParaRPr lang="en-US" sz="1050"/>
        </a:p>
      </dgm:t>
    </dgm:pt>
    <dgm:pt modelId="{6A51DEF3-CFCA-40B6-BD9B-F31C1E3454C0}" type="parTrans" cxnId="{77F9E152-7CD1-4FEE-848F-2DC3E0318E72}">
      <dgm:prSet/>
      <dgm:spPr/>
      <dgm:t>
        <a:bodyPr/>
        <a:lstStyle/>
        <a:p>
          <a:endParaRPr lang="en-US" sz="2000"/>
        </a:p>
      </dgm:t>
    </dgm:pt>
    <dgm:pt modelId="{18626445-6BD1-46D9-BACB-CDA35BD4F5C7}" type="sibTrans" cxnId="{77F9E152-7CD1-4FEE-848F-2DC3E0318E72}">
      <dgm:prSet/>
      <dgm:spPr/>
      <dgm:t>
        <a:bodyPr/>
        <a:lstStyle/>
        <a:p>
          <a:endParaRPr lang="en-US" sz="2000"/>
        </a:p>
      </dgm:t>
    </dgm:pt>
    <dgm:pt modelId="{B34AE392-C5F0-48EA-9586-7EA81F711FB2}">
      <dgm:prSet custT="1"/>
      <dgm:spPr/>
      <dgm:t>
        <a:bodyPr/>
        <a:lstStyle/>
        <a:p>
          <a:pPr rtl="0"/>
          <a:r>
            <a:rPr lang="en-US" sz="1050" smtClean="0"/>
            <a:t>Model Training</a:t>
          </a:r>
          <a:endParaRPr lang="en-US" sz="1050"/>
        </a:p>
      </dgm:t>
    </dgm:pt>
    <dgm:pt modelId="{1B713EA7-AFE2-4DBD-99FD-44AA9612F49E}" type="parTrans" cxnId="{889B337E-F718-4564-857B-AC4273877FE5}">
      <dgm:prSet/>
      <dgm:spPr/>
      <dgm:t>
        <a:bodyPr/>
        <a:lstStyle/>
        <a:p>
          <a:endParaRPr lang="en-US" sz="2000"/>
        </a:p>
      </dgm:t>
    </dgm:pt>
    <dgm:pt modelId="{59678A8A-D7D7-41BD-829C-147AA66CD138}" type="sibTrans" cxnId="{889B337E-F718-4564-857B-AC4273877FE5}">
      <dgm:prSet/>
      <dgm:spPr/>
      <dgm:t>
        <a:bodyPr/>
        <a:lstStyle/>
        <a:p>
          <a:endParaRPr lang="en-US" sz="2000"/>
        </a:p>
      </dgm:t>
    </dgm:pt>
    <dgm:pt modelId="{2C54CC23-0AC1-4616-A71C-6B7A92582990}">
      <dgm:prSet custT="1"/>
      <dgm:spPr/>
      <dgm:t>
        <a:bodyPr/>
        <a:lstStyle/>
        <a:p>
          <a:pPr rtl="0"/>
          <a:r>
            <a:rPr lang="en-US" sz="1050" smtClean="0"/>
            <a:t>Evaluation</a:t>
          </a:r>
          <a:endParaRPr lang="en-US" sz="1050"/>
        </a:p>
      </dgm:t>
    </dgm:pt>
    <dgm:pt modelId="{118B0FBF-C128-446A-917A-84755F7F8A3D}" type="parTrans" cxnId="{E21CF120-CFFB-4966-BBC9-518D9A842F15}">
      <dgm:prSet/>
      <dgm:spPr/>
      <dgm:t>
        <a:bodyPr/>
        <a:lstStyle/>
        <a:p>
          <a:endParaRPr lang="en-US" sz="2000"/>
        </a:p>
      </dgm:t>
    </dgm:pt>
    <dgm:pt modelId="{3E78A139-5876-4DBA-9167-62D67851589F}" type="sibTrans" cxnId="{E21CF120-CFFB-4966-BBC9-518D9A842F15}">
      <dgm:prSet/>
      <dgm:spPr/>
      <dgm:t>
        <a:bodyPr/>
        <a:lstStyle/>
        <a:p>
          <a:endParaRPr lang="en-US" sz="2000"/>
        </a:p>
      </dgm:t>
    </dgm:pt>
    <dgm:pt modelId="{12F1F7DA-2E40-4E68-832F-388B7ED6A948}">
      <dgm:prSet custT="1"/>
      <dgm:spPr/>
      <dgm:t>
        <a:bodyPr/>
        <a:lstStyle/>
        <a:p>
          <a:pPr rtl="0"/>
          <a:r>
            <a:rPr lang="en-US" sz="1050" smtClean="0"/>
            <a:t>Deployment Dashboard</a:t>
          </a:r>
          <a:endParaRPr lang="en-US" sz="1050"/>
        </a:p>
      </dgm:t>
    </dgm:pt>
    <dgm:pt modelId="{5758D20A-DD89-4CFF-A582-5318EF90DFD9}" type="parTrans" cxnId="{1DA52AC0-1A9A-440C-AA85-C418612528F5}">
      <dgm:prSet/>
      <dgm:spPr/>
      <dgm:t>
        <a:bodyPr/>
        <a:lstStyle/>
        <a:p>
          <a:endParaRPr lang="en-US" sz="2000"/>
        </a:p>
      </dgm:t>
    </dgm:pt>
    <dgm:pt modelId="{7BD98A2D-9BE3-43C0-8B27-E375AA012EBF}" type="sibTrans" cxnId="{1DA52AC0-1A9A-440C-AA85-C418612528F5}">
      <dgm:prSet/>
      <dgm:spPr/>
      <dgm:t>
        <a:bodyPr/>
        <a:lstStyle/>
        <a:p>
          <a:endParaRPr lang="en-US" sz="2000"/>
        </a:p>
      </dgm:t>
    </dgm:pt>
    <dgm:pt modelId="{A86EE20D-4ADE-422C-B6C0-D9F3F748E05D}" type="pres">
      <dgm:prSet presAssocID="{BEB3006C-2175-4FC6-9826-7402F6C8AE64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3669FA9-94BC-4664-ADCA-D2F385817B53}" type="pres">
      <dgm:prSet presAssocID="{BEB3006C-2175-4FC6-9826-7402F6C8AE64}" presName="arrow" presStyleLbl="bgShp" presStyleIdx="0" presStyleCnt="1" custScaleX="107928"/>
      <dgm:spPr/>
    </dgm:pt>
    <dgm:pt modelId="{EA840159-726D-4296-8BA5-06E9CF9AE3E9}" type="pres">
      <dgm:prSet presAssocID="{BEB3006C-2175-4FC6-9826-7402F6C8AE64}" presName="linearProcess" presStyleCnt="0"/>
      <dgm:spPr/>
    </dgm:pt>
    <dgm:pt modelId="{C617F002-CA90-4EA5-A428-9E68D2150DA3}" type="pres">
      <dgm:prSet presAssocID="{5ADFAD7B-10E9-45DE-9566-DE2FCA755042}" presName="tex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5290FF-049A-427B-842A-4A1A3E80ACC0}" type="pres">
      <dgm:prSet presAssocID="{FFB5BF45-28F1-4943-93CD-FAC6CCBEBBB5}" presName="sibTrans" presStyleCnt="0"/>
      <dgm:spPr/>
    </dgm:pt>
    <dgm:pt modelId="{7F863241-2460-4E75-8EEE-1B46AE685B5B}" type="pres">
      <dgm:prSet presAssocID="{8A47653F-B5C0-4AC5-9F1F-AEF2125078CB}" presName="text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DCD8AD-54FD-4568-9417-ADADE9E88880}" type="pres">
      <dgm:prSet presAssocID="{3C909DD9-BAF9-4899-ADE6-6B4FD4B32830}" presName="sibTrans" presStyleCnt="0"/>
      <dgm:spPr/>
    </dgm:pt>
    <dgm:pt modelId="{36774894-B5B0-4E85-901B-D103B0A106AA}" type="pres">
      <dgm:prSet presAssocID="{2B6D0CAB-9394-43A1-9D0A-A120558EEE08}" presName="text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107722-3BB0-4086-A928-708D400DD56D}" type="pres">
      <dgm:prSet presAssocID="{62E84890-C582-4C0E-B3B5-24F401689136}" presName="sibTrans" presStyleCnt="0"/>
      <dgm:spPr/>
    </dgm:pt>
    <dgm:pt modelId="{F0D6DD50-3AA3-40E3-B402-C667FE6C90C3}" type="pres">
      <dgm:prSet presAssocID="{E237603E-75E3-4530-A018-3B92FC509099}" presName="text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81000E-BEFC-48B7-98DA-2F6153CB896A}" type="pres">
      <dgm:prSet presAssocID="{18626445-6BD1-46D9-BACB-CDA35BD4F5C7}" presName="sibTrans" presStyleCnt="0"/>
      <dgm:spPr/>
    </dgm:pt>
    <dgm:pt modelId="{D26ED6DF-307E-4D92-92DA-6EB128F7B8B8}" type="pres">
      <dgm:prSet presAssocID="{B34AE392-C5F0-48EA-9586-7EA81F711FB2}" presName="text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B22AB8-B3AF-45A1-ACAD-07790D49BF7A}" type="pres">
      <dgm:prSet presAssocID="{59678A8A-D7D7-41BD-829C-147AA66CD138}" presName="sibTrans" presStyleCnt="0"/>
      <dgm:spPr/>
    </dgm:pt>
    <dgm:pt modelId="{6D1A759E-7F51-4CF9-A907-7F060785CCF8}" type="pres">
      <dgm:prSet presAssocID="{2C54CC23-0AC1-4616-A71C-6B7A92582990}" presName="text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D68340-012E-4F32-A576-460854761A91}" type="pres">
      <dgm:prSet presAssocID="{3E78A139-5876-4DBA-9167-62D67851589F}" presName="sibTrans" presStyleCnt="0"/>
      <dgm:spPr/>
    </dgm:pt>
    <dgm:pt modelId="{CC1C3CA7-425B-4C63-8791-E3F25A771C7F}" type="pres">
      <dgm:prSet presAssocID="{12F1F7DA-2E40-4E68-832F-388B7ED6A948}" presName="text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A27A448-CE70-496B-9EEA-CBDD732D272F}" type="presOf" srcId="{E237603E-75E3-4530-A018-3B92FC509099}" destId="{F0D6DD50-3AA3-40E3-B402-C667FE6C90C3}" srcOrd="0" destOrd="0" presId="urn:microsoft.com/office/officeart/2005/8/layout/hProcess9"/>
    <dgm:cxn modelId="{41D728D5-74DA-4FFB-A3F4-AC5648D416A6}" type="presOf" srcId="{2C54CC23-0AC1-4616-A71C-6B7A92582990}" destId="{6D1A759E-7F51-4CF9-A907-7F060785CCF8}" srcOrd="0" destOrd="0" presId="urn:microsoft.com/office/officeart/2005/8/layout/hProcess9"/>
    <dgm:cxn modelId="{CA35857A-0102-44BB-BD32-D1FC7E00F0E1}" srcId="{BEB3006C-2175-4FC6-9826-7402F6C8AE64}" destId="{2B6D0CAB-9394-43A1-9D0A-A120558EEE08}" srcOrd="2" destOrd="0" parTransId="{28555C43-0EF7-4E47-9ED2-6EDF6CB67847}" sibTransId="{62E84890-C582-4C0E-B3B5-24F401689136}"/>
    <dgm:cxn modelId="{BC10A892-3AAA-4412-8040-4FF937AF8799}" type="presOf" srcId="{8A47653F-B5C0-4AC5-9F1F-AEF2125078CB}" destId="{7F863241-2460-4E75-8EEE-1B46AE685B5B}" srcOrd="0" destOrd="0" presId="urn:microsoft.com/office/officeart/2005/8/layout/hProcess9"/>
    <dgm:cxn modelId="{E21CF120-CFFB-4966-BBC9-518D9A842F15}" srcId="{BEB3006C-2175-4FC6-9826-7402F6C8AE64}" destId="{2C54CC23-0AC1-4616-A71C-6B7A92582990}" srcOrd="5" destOrd="0" parTransId="{118B0FBF-C128-446A-917A-84755F7F8A3D}" sibTransId="{3E78A139-5876-4DBA-9167-62D67851589F}"/>
    <dgm:cxn modelId="{5FEE330D-69BA-47D9-81D0-1905709C2832}" srcId="{BEB3006C-2175-4FC6-9826-7402F6C8AE64}" destId="{5ADFAD7B-10E9-45DE-9566-DE2FCA755042}" srcOrd="0" destOrd="0" parTransId="{7AAC5FE0-9DD9-4077-8573-6F0AB9BE00B1}" sibTransId="{FFB5BF45-28F1-4943-93CD-FAC6CCBEBBB5}"/>
    <dgm:cxn modelId="{1DA52AC0-1A9A-440C-AA85-C418612528F5}" srcId="{BEB3006C-2175-4FC6-9826-7402F6C8AE64}" destId="{12F1F7DA-2E40-4E68-832F-388B7ED6A948}" srcOrd="6" destOrd="0" parTransId="{5758D20A-DD89-4CFF-A582-5318EF90DFD9}" sibTransId="{7BD98A2D-9BE3-43C0-8B27-E375AA012EBF}"/>
    <dgm:cxn modelId="{77F9E152-7CD1-4FEE-848F-2DC3E0318E72}" srcId="{BEB3006C-2175-4FC6-9826-7402F6C8AE64}" destId="{E237603E-75E3-4530-A018-3B92FC509099}" srcOrd="3" destOrd="0" parTransId="{6A51DEF3-CFCA-40B6-BD9B-F31C1E3454C0}" sibTransId="{18626445-6BD1-46D9-BACB-CDA35BD4F5C7}"/>
    <dgm:cxn modelId="{A0032374-4F0D-41F0-ABD3-B467C90CC181}" type="presOf" srcId="{BEB3006C-2175-4FC6-9826-7402F6C8AE64}" destId="{A86EE20D-4ADE-422C-B6C0-D9F3F748E05D}" srcOrd="0" destOrd="0" presId="urn:microsoft.com/office/officeart/2005/8/layout/hProcess9"/>
    <dgm:cxn modelId="{538B3875-9DCF-4F8B-93CB-7EBCDA1D3A18}" srcId="{BEB3006C-2175-4FC6-9826-7402F6C8AE64}" destId="{8A47653F-B5C0-4AC5-9F1F-AEF2125078CB}" srcOrd="1" destOrd="0" parTransId="{0ED42ADF-87DF-43B1-8A71-8E4F98FC8645}" sibTransId="{3C909DD9-BAF9-4899-ADE6-6B4FD4B32830}"/>
    <dgm:cxn modelId="{889B337E-F718-4564-857B-AC4273877FE5}" srcId="{BEB3006C-2175-4FC6-9826-7402F6C8AE64}" destId="{B34AE392-C5F0-48EA-9586-7EA81F711FB2}" srcOrd="4" destOrd="0" parTransId="{1B713EA7-AFE2-4DBD-99FD-44AA9612F49E}" sibTransId="{59678A8A-D7D7-41BD-829C-147AA66CD138}"/>
    <dgm:cxn modelId="{ADF7D0C5-7CBE-4735-A0F6-6E8656E82F12}" type="presOf" srcId="{12F1F7DA-2E40-4E68-832F-388B7ED6A948}" destId="{CC1C3CA7-425B-4C63-8791-E3F25A771C7F}" srcOrd="0" destOrd="0" presId="urn:microsoft.com/office/officeart/2005/8/layout/hProcess9"/>
    <dgm:cxn modelId="{CBFEF912-ABD1-4FF9-96BE-378CC843019A}" type="presOf" srcId="{B34AE392-C5F0-48EA-9586-7EA81F711FB2}" destId="{D26ED6DF-307E-4D92-92DA-6EB128F7B8B8}" srcOrd="0" destOrd="0" presId="urn:microsoft.com/office/officeart/2005/8/layout/hProcess9"/>
    <dgm:cxn modelId="{44F70E8B-470B-4C72-9C9B-F6285FB5BA88}" type="presOf" srcId="{5ADFAD7B-10E9-45DE-9566-DE2FCA755042}" destId="{C617F002-CA90-4EA5-A428-9E68D2150DA3}" srcOrd="0" destOrd="0" presId="urn:microsoft.com/office/officeart/2005/8/layout/hProcess9"/>
    <dgm:cxn modelId="{61818609-F590-48D4-8628-CF93811F8A84}" type="presOf" srcId="{2B6D0CAB-9394-43A1-9D0A-A120558EEE08}" destId="{36774894-B5B0-4E85-901B-D103B0A106AA}" srcOrd="0" destOrd="0" presId="urn:microsoft.com/office/officeart/2005/8/layout/hProcess9"/>
    <dgm:cxn modelId="{675383D4-A7D7-4E4D-95BD-3369B964FD3F}" type="presParOf" srcId="{A86EE20D-4ADE-422C-B6C0-D9F3F748E05D}" destId="{33669FA9-94BC-4664-ADCA-D2F385817B53}" srcOrd="0" destOrd="0" presId="urn:microsoft.com/office/officeart/2005/8/layout/hProcess9"/>
    <dgm:cxn modelId="{1B579EA0-59D3-4EB3-BB2F-428D33B2425C}" type="presParOf" srcId="{A86EE20D-4ADE-422C-B6C0-D9F3F748E05D}" destId="{EA840159-726D-4296-8BA5-06E9CF9AE3E9}" srcOrd="1" destOrd="0" presId="urn:microsoft.com/office/officeart/2005/8/layout/hProcess9"/>
    <dgm:cxn modelId="{98A8723F-C942-4B9A-BBEC-864C2BF9FC9B}" type="presParOf" srcId="{EA840159-726D-4296-8BA5-06E9CF9AE3E9}" destId="{C617F002-CA90-4EA5-A428-9E68D2150DA3}" srcOrd="0" destOrd="0" presId="urn:microsoft.com/office/officeart/2005/8/layout/hProcess9"/>
    <dgm:cxn modelId="{3C0BA4E0-ACB7-4178-A44B-CFB861CF5696}" type="presParOf" srcId="{EA840159-726D-4296-8BA5-06E9CF9AE3E9}" destId="{5B5290FF-049A-427B-842A-4A1A3E80ACC0}" srcOrd="1" destOrd="0" presId="urn:microsoft.com/office/officeart/2005/8/layout/hProcess9"/>
    <dgm:cxn modelId="{28A774D5-7793-474F-AC25-BBD230B42E9C}" type="presParOf" srcId="{EA840159-726D-4296-8BA5-06E9CF9AE3E9}" destId="{7F863241-2460-4E75-8EEE-1B46AE685B5B}" srcOrd="2" destOrd="0" presId="urn:microsoft.com/office/officeart/2005/8/layout/hProcess9"/>
    <dgm:cxn modelId="{4BA33F17-E027-476E-8F13-343C5475B141}" type="presParOf" srcId="{EA840159-726D-4296-8BA5-06E9CF9AE3E9}" destId="{02DCD8AD-54FD-4568-9417-ADADE9E88880}" srcOrd="3" destOrd="0" presId="urn:microsoft.com/office/officeart/2005/8/layout/hProcess9"/>
    <dgm:cxn modelId="{E4E909BB-B0EB-4867-8C6E-BE6947120EA4}" type="presParOf" srcId="{EA840159-726D-4296-8BA5-06E9CF9AE3E9}" destId="{36774894-B5B0-4E85-901B-D103B0A106AA}" srcOrd="4" destOrd="0" presId="urn:microsoft.com/office/officeart/2005/8/layout/hProcess9"/>
    <dgm:cxn modelId="{7473E43B-F333-496B-B0EF-48BDF0461F4A}" type="presParOf" srcId="{EA840159-726D-4296-8BA5-06E9CF9AE3E9}" destId="{04107722-3BB0-4086-A928-708D400DD56D}" srcOrd="5" destOrd="0" presId="urn:microsoft.com/office/officeart/2005/8/layout/hProcess9"/>
    <dgm:cxn modelId="{89284B83-489F-4C48-94CC-992C41F66C53}" type="presParOf" srcId="{EA840159-726D-4296-8BA5-06E9CF9AE3E9}" destId="{F0D6DD50-3AA3-40E3-B402-C667FE6C90C3}" srcOrd="6" destOrd="0" presId="urn:microsoft.com/office/officeart/2005/8/layout/hProcess9"/>
    <dgm:cxn modelId="{1EE9533A-2BC8-4A72-BDA4-BBA6D48123BD}" type="presParOf" srcId="{EA840159-726D-4296-8BA5-06E9CF9AE3E9}" destId="{1281000E-BEFC-48B7-98DA-2F6153CB896A}" srcOrd="7" destOrd="0" presId="urn:microsoft.com/office/officeart/2005/8/layout/hProcess9"/>
    <dgm:cxn modelId="{6DB25D52-0F41-4A45-8909-409E7952170C}" type="presParOf" srcId="{EA840159-726D-4296-8BA5-06E9CF9AE3E9}" destId="{D26ED6DF-307E-4D92-92DA-6EB128F7B8B8}" srcOrd="8" destOrd="0" presId="urn:microsoft.com/office/officeart/2005/8/layout/hProcess9"/>
    <dgm:cxn modelId="{7584F9BD-40A9-4B8D-B1BE-01940F392E9C}" type="presParOf" srcId="{EA840159-726D-4296-8BA5-06E9CF9AE3E9}" destId="{E0B22AB8-B3AF-45A1-ACAD-07790D49BF7A}" srcOrd="9" destOrd="0" presId="urn:microsoft.com/office/officeart/2005/8/layout/hProcess9"/>
    <dgm:cxn modelId="{EE16B53F-4DB6-4F53-A0DB-B8443FAF121A}" type="presParOf" srcId="{EA840159-726D-4296-8BA5-06E9CF9AE3E9}" destId="{6D1A759E-7F51-4CF9-A907-7F060785CCF8}" srcOrd="10" destOrd="0" presId="urn:microsoft.com/office/officeart/2005/8/layout/hProcess9"/>
    <dgm:cxn modelId="{FCD971B4-C7E8-45B5-B300-E5DEC88879F6}" type="presParOf" srcId="{EA840159-726D-4296-8BA5-06E9CF9AE3E9}" destId="{70D68340-012E-4F32-A576-460854761A91}" srcOrd="11" destOrd="0" presId="urn:microsoft.com/office/officeart/2005/8/layout/hProcess9"/>
    <dgm:cxn modelId="{866CF2EC-96F2-4DC4-9738-51FE9DF56CA0}" type="presParOf" srcId="{EA840159-726D-4296-8BA5-06E9CF9AE3E9}" destId="{CC1C3CA7-425B-4C63-8791-E3F25A771C7F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69FA9-94BC-4664-ADCA-D2F385817B53}">
      <dsp:nvSpPr>
        <dsp:cNvPr id="0" name=""/>
        <dsp:cNvSpPr/>
      </dsp:nvSpPr>
      <dsp:spPr>
        <a:xfrm>
          <a:off x="289845" y="0"/>
          <a:ext cx="6437335" cy="263718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7F002-CA90-4EA5-A428-9E68D2150DA3}">
      <dsp:nvSpPr>
        <dsp:cNvPr id="0" name=""/>
        <dsp:cNvSpPr/>
      </dsp:nvSpPr>
      <dsp:spPr>
        <a:xfrm>
          <a:off x="1370" y="791154"/>
          <a:ext cx="876785" cy="1054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smtClean="0"/>
            <a:t>Data Loading</a:t>
          </a:r>
          <a:endParaRPr lang="en-US" sz="1050" kern="1200"/>
        </a:p>
      </dsp:txBody>
      <dsp:txXfrm>
        <a:off x="44171" y="833955"/>
        <a:ext cx="791183" cy="969270"/>
      </dsp:txXfrm>
    </dsp:sp>
    <dsp:sp modelId="{7F863241-2460-4E75-8EEE-1B46AE685B5B}">
      <dsp:nvSpPr>
        <dsp:cNvPr id="0" name=""/>
        <dsp:cNvSpPr/>
      </dsp:nvSpPr>
      <dsp:spPr>
        <a:xfrm>
          <a:off x="1024287" y="791154"/>
          <a:ext cx="876785" cy="1054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smtClean="0"/>
            <a:t>EDA</a:t>
          </a:r>
          <a:endParaRPr lang="en-US" sz="1050" kern="1200"/>
        </a:p>
      </dsp:txBody>
      <dsp:txXfrm>
        <a:off x="1067088" y="833955"/>
        <a:ext cx="791183" cy="969270"/>
      </dsp:txXfrm>
    </dsp:sp>
    <dsp:sp modelId="{36774894-B5B0-4E85-901B-D103B0A106AA}">
      <dsp:nvSpPr>
        <dsp:cNvPr id="0" name=""/>
        <dsp:cNvSpPr/>
      </dsp:nvSpPr>
      <dsp:spPr>
        <a:xfrm>
          <a:off x="2047203" y="791154"/>
          <a:ext cx="876785" cy="1054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smtClean="0"/>
            <a:t>Feature Engineering</a:t>
          </a:r>
          <a:endParaRPr lang="en-US" sz="1050" kern="1200"/>
        </a:p>
      </dsp:txBody>
      <dsp:txXfrm>
        <a:off x="2090004" y="833955"/>
        <a:ext cx="791183" cy="969270"/>
      </dsp:txXfrm>
    </dsp:sp>
    <dsp:sp modelId="{F0D6DD50-3AA3-40E3-B402-C667FE6C90C3}">
      <dsp:nvSpPr>
        <dsp:cNvPr id="0" name=""/>
        <dsp:cNvSpPr/>
      </dsp:nvSpPr>
      <dsp:spPr>
        <a:xfrm>
          <a:off x="3070120" y="791154"/>
          <a:ext cx="876785" cy="1054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smtClean="0"/>
            <a:t>Train/Test Split</a:t>
          </a:r>
          <a:endParaRPr lang="en-US" sz="1050" kern="1200"/>
        </a:p>
      </dsp:txBody>
      <dsp:txXfrm>
        <a:off x="3112921" y="833955"/>
        <a:ext cx="791183" cy="969270"/>
      </dsp:txXfrm>
    </dsp:sp>
    <dsp:sp modelId="{D26ED6DF-307E-4D92-92DA-6EB128F7B8B8}">
      <dsp:nvSpPr>
        <dsp:cNvPr id="0" name=""/>
        <dsp:cNvSpPr/>
      </dsp:nvSpPr>
      <dsp:spPr>
        <a:xfrm>
          <a:off x="4093036" y="791154"/>
          <a:ext cx="876785" cy="1054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smtClean="0"/>
            <a:t>Model Training</a:t>
          </a:r>
          <a:endParaRPr lang="en-US" sz="1050" kern="1200"/>
        </a:p>
      </dsp:txBody>
      <dsp:txXfrm>
        <a:off x="4135837" y="833955"/>
        <a:ext cx="791183" cy="969270"/>
      </dsp:txXfrm>
    </dsp:sp>
    <dsp:sp modelId="{6D1A759E-7F51-4CF9-A907-7F060785CCF8}">
      <dsp:nvSpPr>
        <dsp:cNvPr id="0" name=""/>
        <dsp:cNvSpPr/>
      </dsp:nvSpPr>
      <dsp:spPr>
        <a:xfrm>
          <a:off x="5115953" y="791154"/>
          <a:ext cx="876785" cy="1054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smtClean="0"/>
            <a:t>Evaluation</a:t>
          </a:r>
          <a:endParaRPr lang="en-US" sz="1050" kern="1200"/>
        </a:p>
      </dsp:txBody>
      <dsp:txXfrm>
        <a:off x="5158754" y="833955"/>
        <a:ext cx="791183" cy="969270"/>
      </dsp:txXfrm>
    </dsp:sp>
    <dsp:sp modelId="{CC1C3CA7-425B-4C63-8791-E3F25A771C7F}">
      <dsp:nvSpPr>
        <dsp:cNvPr id="0" name=""/>
        <dsp:cNvSpPr/>
      </dsp:nvSpPr>
      <dsp:spPr>
        <a:xfrm>
          <a:off x="6138869" y="791154"/>
          <a:ext cx="876785" cy="10548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smtClean="0"/>
            <a:t>Deployment Dashboard</a:t>
          </a:r>
          <a:endParaRPr lang="en-US" sz="1050" kern="1200"/>
        </a:p>
      </dsp:txBody>
      <dsp:txXfrm>
        <a:off x="6181670" y="833955"/>
        <a:ext cx="791183" cy="969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73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1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01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03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25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82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18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24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90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73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87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097280" cy="731520"/>
          </a:xfrm>
          <a:prstGeom prst="ellipse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74320"/>
            <a:ext cx="822960" cy="594360"/>
          </a:xfrm>
          <a:prstGeom prst="ellipse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ClimaPredict Pakistan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Weather Forecasting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Pakistan Weather </a:t>
            </a:r>
            <a:r>
              <a:rPr lang="en-US" sz="1300" dirty="0" smtClean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</a:t>
            </a: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Source: Open-Meteo Historical API  |  6 Cities  |  2,190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   </a:t>
            </a:r>
            <a:r>
              <a:rPr lang="en-US" sz="1200" dirty="0" err="1" smtClean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Amna</a:t>
            </a:r>
            <a:r>
              <a:rPr lang="en-US" sz="1200" dirty="0" smtClean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Batool</a:t>
            </a:r>
            <a:r>
              <a:rPr lang="en-US" sz="1200" dirty="0" smtClean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(242881),   </a:t>
            </a:r>
            <a:r>
              <a:rPr lang="en-US" sz="1200" dirty="0" err="1" smtClean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Nayab</a:t>
            </a:r>
            <a:r>
              <a:rPr lang="en-US" sz="1200" dirty="0" smtClean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Gul (242864)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>
              <a:alpha val="40000"/>
            </a:srgbClr>
          </a:solidFill>
          <a:ln w="12700">
            <a:solidFill>
              <a:srgbClr val="1B6CA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Prediction  ·  Rain Classification  ·  Weather Condition Prediction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ClimaPredict Pakistan is a multi-task ML pipeline that forecasts weather across 6 major Pakistani cities. The dataset was collected via the Open-Meteo Historical Weather API. It supports agriculture, disaster preparedness, and public planning.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74320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03120"/>
            <a:ext cx="2743200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daily average temperature (°C) using regression models — Best: Linear Regression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274320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03120"/>
            <a:ext cx="274320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Rain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if a day will see rainfall: Rain / No Rain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74320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103120"/>
            <a:ext cx="2743200" cy="3200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 Weather 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</a:p>
        </p:txBody>
      </p:sp>
      <p:sp>
        <p:nvSpPr>
          <p:cNvPr id="20" name="Text 18"/>
          <p:cNvSpPr/>
          <p:nvPr/>
        </p:nvSpPr>
        <p:spPr>
          <a:xfrm>
            <a:off x="621792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8346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day as Sunny, Rainy, Moderate, or Cloudy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Weather Dataset — Collected via Open-Meteo Historical Weather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92024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234440"/>
            <a:ext cx="192024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96312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192024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72584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1234440"/>
            <a:ext cx="192024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48856" y="1325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48856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BF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8595360" cy="448056"/>
          </a:xfrm>
          <a:prstGeom prst="rect">
            <a:avLst/>
          </a:prstGeom>
          <a:solidFill>
            <a:srgbClr val="EFF6F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1576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Data Source: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2715768"/>
            <a:ext cx="6949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Historical Weather API  (</a:t>
            </a:r>
            <a:r>
              <a:rPr lang="en-US" sz="11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open-meteo.com). API calls made per city for Jan 2023 – Dec 2023, compiled into a structured CSV dataset.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231940"/>
            <a:ext cx="3931920" cy="1572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2841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Cities Covered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58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Islamabad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50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Karachi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3484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Lahore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37336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06245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Peshawar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97927" y="4345719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Quetta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40062" y="3236976"/>
            <a:ext cx="4297680" cy="1572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277925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Feature Groups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36108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Temperature (MaxTemp, MinTemp, AvgTemp)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83133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Humidity &amp; Rainfall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4041515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Wind, Pressure, Cloud Cover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254079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 Quality (PM2.5, PM10, CO)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80974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44855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(Month, Season, Weekend)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Patterns in Pakistan's Weather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2040834"/>
            <a:ext cx="3919993" cy="1886447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2040834"/>
            <a:ext cx="387692" cy="1886447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635195"/>
            <a:ext cx="473845" cy="560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86555"/>
            <a:ext cx="3359994" cy="387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Trends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52315"/>
            <a:ext cx="3359994" cy="387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Peak temps in May–July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818075"/>
            <a:ext cx="3359994" cy="387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seasonal cycle across all cities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83835"/>
            <a:ext cx="3359994" cy="387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Multan &amp;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hottest; Quetta coolest</a:t>
            </a:r>
            <a:endParaRPr lang="en-US" sz="11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523" y="1508760"/>
            <a:ext cx="54292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924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Patterns in Pakistan's Weather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080260"/>
            <a:ext cx="416052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80260"/>
            <a:ext cx="411480" cy="1691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746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🌧️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21259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Patterns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4917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80% of rainfall in Monsoon season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8575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Humidity strongly predicts rainfall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2232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cover highest in Rainy days</a:t>
            </a:r>
            <a:endParaRPr lang="en-US" sz="11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73" y="1614597"/>
            <a:ext cx="5253705" cy="321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4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Patterns in Pakistan's Weather Data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1965960"/>
            <a:ext cx="416052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965960"/>
            <a:ext cx="411480" cy="1691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2011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377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Karachi: highest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2743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Humidity &amp; DewPoint are correlated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108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Humidity inversely links to Visibility</a:t>
            </a:r>
            <a:endParaRPr lang="en-US" sz="11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924" y="1342592"/>
            <a:ext cx="6014076" cy="344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8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Patterns in Pakistan's Weather Data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2109020"/>
            <a:ext cx="416052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109020"/>
            <a:ext cx="411480" cy="1691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7033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21547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25205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Temp_Yesterday → strongest temp predictor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28862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AirPressure inversely related to rainfall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32520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CloudCover key for weather condition</a:t>
            </a:r>
            <a:endParaRPr lang="en-US" sz="11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855" y="1188721"/>
            <a:ext cx="5330745" cy="383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358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 smtClean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Overview</a:t>
            </a:r>
            <a:endParaRPr lang="en-US" sz="14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313" y="960120"/>
            <a:ext cx="6712493" cy="408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5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Predictions</a:t>
            </a:r>
            <a:endParaRPr lang="en-US" sz="1400" dirty="0"/>
          </a:p>
        </p:txBody>
      </p:sp>
      <p:graphicFrame>
        <p:nvGraphicFramePr>
          <p:cNvPr id="42" name="Diagram 41"/>
          <p:cNvGraphicFramePr/>
          <p:nvPr>
            <p:extLst>
              <p:ext uri="{D42A27DB-BD31-4B8C-83A1-F6EECF244321}">
                <p14:modId xmlns:p14="http://schemas.microsoft.com/office/powerpoint/2010/main" val="137642407"/>
              </p:ext>
            </p:extLst>
          </p:nvPr>
        </p:nvGraphicFramePr>
        <p:xfrm>
          <a:off x="960783" y="1590261"/>
          <a:ext cx="7017026" cy="2637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18244" y="1711598"/>
            <a:ext cx="18420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Displayed predictions through the </a:t>
            </a:r>
            <a:r>
              <a:rPr lang="en-US" sz="1100" dirty="0" err="1"/>
              <a:t>ClimaPredict</a:t>
            </a:r>
            <a:r>
              <a:rPr lang="en-US" sz="1100" dirty="0"/>
              <a:t> Pakistan web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7950" y="3646745"/>
            <a:ext cx="1914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Regression: MAE, RMSE, R² Score</a:t>
            </a:r>
            <a:r>
              <a:rPr lang="en-US" sz="11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Classification: Accuracy and F1-Score.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9932" y="1820153"/>
            <a:ext cx="18685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Regression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Classification Models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3836507" y="3646745"/>
            <a:ext cx="165652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Split dataset into training and testing 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2349" y="1639042"/>
            <a:ext cx="19944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Label </a:t>
            </a:r>
            <a:r>
              <a:rPr lang="en-US" sz="1100" dirty="0"/>
              <a:t>Encoding, </a:t>
            </a: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One-Hot Encoding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Cyclic </a:t>
            </a:r>
            <a:r>
              <a:rPr lang="en-US" sz="1100" dirty="0"/>
              <a:t>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0139" y="3646745"/>
            <a:ext cx="186855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Analyzed temperature, rainfall, and humidity </a:t>
            </a:r>
            <a:r>
              <a:rPr lang="en-US" sz="1100" dirty="0" smtClean="0"/>
              <a:t>trends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correlations </a:t>
            </a:r>
            <a:r>
              <a:rPr lang="en-US" sz="1100" dirty="0"/>
              <a:t>between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992" y="1718257"/>
            <a:ext cx="133847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Loaded Pakistan Weather Dataset (2023)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063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1212973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" y="1650955"/>
            <a:ext cx="8641080" cy="3027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• Label Encoding: City → 0–5 (Islamabad=0, Karachi=1, Lahore=2, Multan=3, Peshawar=4, Quetta=5)</a:t>
            </a:r>
          </a:p>
          <a:p>
            <a:pPr marL="0" indent="0">
              <a:buNone/>
            </a:pPr>
            <a:endParaRPr lang="en-US" sz="1600" dirty="0" smtClean="0">
              <a:solidFill>
                <a:srgbClr val="1E293B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• Cyclic Encoding: Month → sin(2πm/12) and cos(2πm/12) to preserve cyclical </a:t>
            </a:r>
            <a:r>
              <a:rPr lang="en-US" sz="1600" dirty="0" smtClean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nature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• One-Hot Encoding: Season → 4 binary columns (Winter, Spring, Summer, Autumn</a:t>
            </a:r>
            <a:r>
              <a:rPr lang="en-US" sz="1600" dirty="0" smtClean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)</a:t>
            </a:r>
          </a:p>
          <a:p>
            <a:endParaRPr lang="en-US" sz="1600" dirty="0" smtClean="0">
              <a:solidFill>
                <a:srgbClr val="1E293B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• Lag Features: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Temp_Yesterday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Humidity_Yesterday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 smtClean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Rainfall_Yesterday</a:t>
            </a:r>
            <a:endParaRPr lang="en-US" sz="1600" dirty="0" smtClean="0">
              <a:solidFill>
                <a:srgbClr val="1E293B"/>
              </a:solidFill>
              <a:ea typeface="Calibri" pitchFamily="34" charset="-122"/>
              <a:cs typeface="Calibri" pitchFamily="34" charset="-120"/>
            </a:endParaRPr>
          </a:p>
          <a:p>
            <a:endParaRPr lang="en-US" sz="1600" dirty="0"/>
          </a:p>
          <a:p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• Rolling Averages: 7DayAvgTemp, 7DayAvgHumidity, 7DayAvgRainfall</a:t>
            </a: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11480" y="3035808"/>
            <a:ext cx="50212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7992147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Performance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Tasks — Best Models Highlighted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92819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Task 1: Temperature Prediction (Regression)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071922"/>
              </p:ext>
            </p:extLst>
          </p:nvPr>
        </p:nvGraphicFramePr>
        <p:xfrm>
          <a:off x="274320" y="2266519"/>
          <a:ext cx="411480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smtClean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smtClean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1.374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9304"/>
            <a:ext cx="4644139" cy="352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0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Performance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Tasks — Best Models Highlighted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1327373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Task 2: Rain Classification (Binary)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4320" y="32095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  Task 3: Weather Condition (Multi-class)</a:t>
            </a:r>
            <a:endParaRPr lang="en-US" sz="13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094055"/>
              </p:ext>
            </p:extLst>
          </p:nvPr>
        </p:nvGraphicFramePr>
        <p:xfrm>
          <a:off x="274320" y="3566160"/>
          <a:ext cx="4114800" cy="1036320"/>
        </p:xfrm>
        <a:graphic>
          <a:graphicData uri="http://schemas.openxmlformats.org/drawingml/2006/table">
            <a:tbl>
              <a:tblPr/>
              <a:tblGrid>
                <a:gridCol w="217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</a:t>
                      </a:r>
                      <a:r>
                        <a:rPr lang="en-US" sz="11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smtClean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smtClean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754880" y="1859280"/>
            <a:ext cx="4114800" cy="17373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8"/>
          <p:cNvSpPr/>
          <p:nvPr/>
        </p:nvSpPr>
        <p:spPr>
          <a:xfrm>
            <a:off x="4892040" y="1932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92040" y="2316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Regression is best for Temperature prediction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892040" y="2618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excels at Rain Classification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92040" y="2919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Boosting leads Weather Condition task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892040" y="32217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Lag features are the most important predictors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322501"/>
              </p:ext>
            </p:extLst>
          </p:nvPr>
        </p:nvGraphicFramePr>
        <p:xfrm>
          <a:off x="274320" y="1731202"/>
          <a:ext cx="4114800" cy="1295400"/>
        </p:xfrm>
        <a:graphic>
          <a:graphicData uri="http://schemas.openxmlformats.org/drawingml/2006/table">
            <a:tbl>
              <a:tblPr/>
              <a:tblGrid>
                <a:gridCol w="2220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r>
                        <a:rPr lang="en-US" sz="110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</a:t>
                      </a:r>
                      <a:r>
                        <a:rPr lang="en-US" sz="110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smtClean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r>
                        <a:rPr lang="en-US" sz="1100" b="1" baseline="0" dirty="0" smtClean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smtClean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smtClean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4866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Across All Three Tasks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834640" cy="4572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344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Linear </a:t>
            </a:r>
            <a:r>
              <a:rPr lang="en-US" sz="9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828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Temp_Yesterday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093976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093976"/>
            <a:ext cx="2519172" cy="182880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1B6CA8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828800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2395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7DayAvgTemp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660904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660904"/>
            <a:ext cx="2174443" cy="182880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1B6CA8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39572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29626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DewPoint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227832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227832"/>
            <a:ext cx="1538021" cy="182880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1B6CA8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962656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35295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AirPressure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794760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794760"/>
            <a:ext cx="1060704" cy="182880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1B6CA8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3529584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" y="4096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61688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361688"/>
            <a:ext cx="848563" cy="182880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1B6CA8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4096512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1188720"/>
            <a:ext cx="283464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12344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Rain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19272" y="1481328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Random Forest Classifier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19272" y="1828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9272" y="2093976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9272" y="2093976"/>
            <a:ext cx="2386584" cy="18288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1828800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19272" y="2395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CloudCover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19272" y="2660904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19272" y="2660904"/>
            <a:ext cx="2068373" cy="18288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239572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19272" y="29626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7DayAvgRainfall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19272" y="3227832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19272" y="3227832"/>
            <a:ext cx="1723644" cy="18288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2962656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19272" y="35295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DewPoint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19272" y="3794760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19272" y="3794760"/>
            <a:ext cx="1458468" cy="18288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3529584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19272" y="4096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319272" y="4361688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19272" y="4361688"/>
            <a:ext cx="1060704" cy="18288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4096512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1188720"/>
            <a:ext cx="2834640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91072" y="12344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 Weather Cond.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91072" y="1481328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Gradient Boosting Classifier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91072" y="1828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91072" y="2093976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91072" y="2093976"/>
            <a:ext cx="2333549" cy="182880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>
                <a:alpha val="8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49640" y="1828800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91072" y="2395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CloudCover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91072" y="2660904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91072" y="2660904"/>
            <a:ext cx="2253996" cy="182880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>
                <a:alpha val="8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49640" y="239572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91072" y="29626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91072" y="3227832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91072" y="3227832"/>
            <a:ext cx="1909267" cy="182880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>
                <a:alpha val="8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49640" y="2962656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291072" y="35295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AirPressure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291072" y="3794760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91072" y="3794760"/>
            <a:ext cx="1325880" cy="182880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>
                <a:alpha val="8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49640" y="3529584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91072" y="4096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Rainfall_Yesterday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291072" y="4361688"/>
            <a:ext cx="265176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91072" y="4361688"/>
            <a:ext cx="1007669" cy="182880"/>
          </a:xfrm>
          <a:prstGeom prst="rect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>
                <a:alpha val="8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49640" y="4096512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 err="1" smtClean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ClimaPredict</a:t>
            </a:r>
            <a:r>
              <a:rPr lang="en-US" sz="1400" i="1" dirty="0" smtClean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Pakistan.html </a:t>
            </a: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Frontend Interface</a:t>
            </a:r>
            <a:endParaRPr lang="en-US" sz="14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589" y="1289304"/>
            <a:ext cx="7090820" cy="3411300"/>
          </a:xfrm>
          <a:prstGeom prst="rect">
            <a:avLst/>
          </a:prstGeom>
        </p:spPr>
      </p:pic>
      <p:sp>
        <p:nvSpPr>
          <p:cNvPr id="7" name="Shape 23"/>
          <p:cNvSpPr/>
          <p:nvPr/>
        </p:nvSpPr>
        <p:spPr>
          <a:xfrm>
            <a:off x="163853" y="1375574"/>
            <a:ext cx="1793674" cy="320967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24"/>
          <p:cNvSpPr/>
          <p:nvPr/>
        </p:nvSpPr>
        <p:spPr>
          <a:xfrm>
            <a:off x="163853" y="1448725"/>
            <a:ext cx="1808205" cy="338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100" dirty="0"/>
          </a:p>
        </p:txBody>
      </p:sp>
      <p:sp>
        <p:nvSpPr>
          <p:cNvPr id="9" name="Text 25"/>
          <p:cNvSpPr/>
          <p:nvPr/>
        </p:nvSpPr>
        <p:spPr>
          <a:xfrm>
            <a:off x="163853" y="1878493"/>
            <a:ext cx="1808205" cy="338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selector (6 cities)</a:t>
            </a:r>
            <a:endParaRPr lang="en-US" sz="1050" dirty="0"/>
          </a:p>
        </p:txBody>
      </p:sp>
      <p:sp>
        <p:nvSpPr>
          <p:cNvPr id="10" name="Text 26"/>
          <p:cNvSpPr/>
          <p:nvPr/>
        </p:nvSpPr>
        <p:spPr>
          <a:xfrm>
            <a:off x="163853" y="2262541"/>
            <a:ext cx="1808205" cy="338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input form</a:t>
            </a:r>
            <a:endParaRPr lang="en-US" sz="1050" dirty="0"/>
          </a:p>
        </p:txBody>
      </p:sp>
      <p:sp>
        <p:nvSpPr>
          <p:cNvPr id="11" name="Text 27"/>
          <p:cNvSpPr/>
          <p:nvPr/>
        </p:nvSpPr>
        <p:spPr>
          <a:xfrm>
            <a:off x="163853" y="2646589"/>
            <a:ext cx="1808205" cy="338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1050" dirty="0"/>
          </a:p>
        </p:txBody>
      </p:sp>
      <p:sp>
        <p:nvSpPr>
          <p:cNvPr id="12" name="Text 28"/>
          <p:cNvSpPr/>
          <p:nvPr/>
        </p:nvSpPr>
        <p:spPr>
          <a:xfrm>
            <a:off x="163853" y="3030637"/>
            <a:ext cx="1808205" cy="338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bar chart</a:t>
            </a:r>
            <a:endParaRPr lang="en-US" sz="1050" dirty="0"/>
          </a:p>
        </p:txBody>
      </p:sp>
      <p:sp>
        <p:nvSpPr>
          <p:cNvPr id="13" name="Text 29"/>
          <p:cNvSpPr/>
          <p:nvPr/>
        </p:nvSpPr>
        <p:spPr>
          <a:xfrm>
            <a:off x="163853" y="3414685"/>
            <a:ext cx="1808205" cy="338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confidence</a:t>
            </a:r>
            <a:endParaRPr lang="en-US" sz="1050" dirty="0"/>
          </a:p>
        </p:txBody>
      </p:sp>
      <p:sp>
        <p:nvSpPr>
          <p:cNvPr id="14" name="Text 30"/>
          <p:cNvSpPr/>
          <p:nvPr/>
        </p:nvSpPr>
        <p:spPr>
          <a:xfrm>
            <a:off x="163853" y="3798733"/>
            <a:ext cx="1808205" cy="338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visualizations</a:t>
            </a:r>
            <a:endParaRPr lang="en-US" sz="1050" dirty="0"/>
          </a:p>
        </p:txBody>
      </p:sp>
      <p:sp>
        <p:nvSpPr>
          <p:cNvPr id="15" name="Text 31"/>
          <p:cNvSpPr/>
          <p:nvPr/>
        </p:nvSpPr>
        <p:spPr>
          <a:xfrm>
            <a:off x="163853" y="4182781"/>
            <a:ext cx="1808205" cy="338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chart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01416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3883" y="1280159"/>
            <a:ext cx="7663422" cy="3351475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9751" y="1309182"/>
            <a:ext cx="7665240" cy="47389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077" y="1367028"/>
            <a:ext cx="743491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Key Findings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4915" y="2033670"/>
            <a:ext cx="7434911" cy="520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Regression is best for Temperature — zero overfitting (94% accuracy)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5411" y="2421765"/>
            <a:ext cx="7434911" cy="520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leads rain classification </a:t>
            </a: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(88%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5411" y="2800579"/>
            <a:ext cx="7434911" cy="520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Boosting leads Weather Condition </a:t>
            </a: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(82%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5411" y="3136256"/>
            <a:ext cx="7434911" cy="520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Lag features (Temp_Yesterday) are the most predictive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5411" y="3514142"/>
            <a:ext cx="7434911" cy="520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Temperature regression: ~0.97 R² with Linear Regression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5411" y="3863800"/>
            <a:ext cx="7434911" cy="520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Linear/Logistic models provide reliable, stable baselines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 smtClean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</a:t>
            </a: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Next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1289304"/>
            <a:ext cx="7724030" cy="33160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1289304"/>
            <a:ext cx="7724030" cy="5063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399" y="1316736"/>
            <a:ext cx="7209095" cy="427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Work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4399" y="1819656"/>
            <a:ext cx="7209095" cy="450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Open-Meteo API to forecast endpoints for live predictions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399" y="2204251"/>
            <a:ext cx="7209095" cy="450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Flask/FastAPI deployment with live model serving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399" y="2683267"/>
            <a:ext cx="7209095" cy="450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Learning: </a:t>
            </a: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time-series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399" y="3105382"/>
            <a:ext cx="7209095" cy="450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to all provinces and districts of Pakistan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399" y="3561523"/>
            <a:ext cx="7209095" cy="450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 quality prediction (PM2.5, PM10) as Task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398" y="4035486"/>
            <a:ext cx="7209095" cy="450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for farmers and disaster response teams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29335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ClimaPredict Pakistan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2788920"/>
            <a:ext cx="3657600" cy="36576"/>
          </a:xfrm>
          <a:prstGeom prst="rect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17520"/>
            <a:ext cx="1737360" cy="1371600"/>
          </a:xfrm>
          <a:prstGeom prst="rect">
            <a:avLst/>
          </a:prstGeom>
          <a:solidFill>
            <a:srgbClr val="1B6CA8">
              <a:alpha val="40000"/>
            </a:srgbClr>
          </a:solidFill>
          <a:ln w="12700">
            <a:solidFill>
              <a:srgbClr val="2E86A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017520"/>
            <a:ext cx="1737360" cy="1371600"/>
          </a:xfrm>
          <a:prstGeom prst="rect">
            <a:avLst/>
          </a:prstGeom>
          <a:solidFill>
            <a:srgbClr val="1B6CA8">
              <a:alpha val="40000"/>
            </a:srgbClr>
          </a:solidFill>
          <a:ln w="12700">
            <a:solidFill>
              <a:srgbClr val="2E86AB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108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4320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1737360" cy="1371600"/>
          </a:xfrm>
          <a:prstGeom prst="rect">
            <a:avLst/>
          </a:prstGeom>
          <a:solidFill>
            <a:srgbClr val="1B6CA8">
              <a:alpha val="40000"/>
            </a:srgbClr>
          </a:solidFill>
          <a:ln w="12700">
            <a:solidFill>
              <a:srgbClr val="2E86A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108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3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3017520"/>
            <a:ext cx="1737360" cy="1371600"/>
          </a:xfrm>
          <a:prstGeom prst="rect">
            <a:avLst/>
          </a:prstGeom>
          <a:solidFill>
            <a:srgbClr val="1B6CA8">
              <a:alpha val="40000"/>
            </a:srgbClr>
          </a:solidFill>
          <a:ln w="12700">
            <a:solidFill>
              <a:srgbClr val="2E86AB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108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3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6656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| ML Project Team | </a:t>
            </a:r>
            <a:r>
              <a:rPr lang="en-US" sz="1200" dirty="0" smtClean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977</Words>
  <Application>Microsoft Office PowerPoint</Application>
  <PresentationFormat>On-screen Show (16:9)</PresentationFormat>
  <Paragraphs>254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ClimaPredict Pakistan</dc:title>
  <dc:subject>PptxGenJS Presentation</dc:subject>
  <dc:creator>ML Project Team</dc:creator>
  <cp:lastModifiedBy>Moorche</cp:lastModifiedBy>
  <cp:revision>35</cp:revision>
  <dcterms:created xsi:type="dcterms:W3CDTF">2026-05-29T18:58:54Z</dcterms:created>
  <dcterms:modified xsi:type="dcterms:W3CDTF">2026-06-04T12:28:05Z</dcterms:modified>
</cp:coreProperties>
</file>